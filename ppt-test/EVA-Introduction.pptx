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0" y="0"/>
            <a:ext cx="3810000" cy="5143500"/>
          </a:xfrm>
          <a:prstGeom prst="rect">
            <a:avLst/>
          </a:prstGeom>
          <a:solidFill>
            <a:srgbClr val="4A1C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53507" y="1627287"/>
            <a:ext cx="3036987" cy="1085850"/>
          </a:xfrm>
          <a:prstGeom prst="roundRect">
            <a:avLst>
              <a:gd name="adj" fmla="val 4678"/>
            </a:avLst>
          </a:prstGeom>
          <a:solidFill>
            <a:srgbClr val="FF6B6B">
              <a:alpha val="90000"/>
            </a:srgbClr>
          </a:solidFill>
          <a:ln/>
          <a:effectLst>
            <a:outerShdw sx="100000" sy="100000" kx="0" ky="0" algn="bl" rotWithShape="0" blurRad="142875" dist="53882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0377" y="1817787"/>
            <a:ext cx="154324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504629" y="2967038"/>
            <a:ext cx="4134594" cy="549176"/>
          </a:xfrm>
          <a:prstGeom prst="roundRect">
            <a:avLst>
              <a:gd name="adj" fmla="val 9250"/>
            </a:avLst>
          </a:prstGeom>
          <a:solidFill>
            <a:srgbClr val="4ECDC4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81392" y="3093988"/>
            <a:ext cx="318106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Genesis Evangelion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7950" y="4464248"/>
            <a:ext cx="801737" cy="298252"/>
          </a:xfrm>
          <a:prstGeom prst="roundRect">
            <a:avLst>
              <a:gd name="adj" fmla="val 851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8450" y="4527649"/>
            <a:ext cx="4291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9469" y="4349948"/>
            <a:ext cx="1456581" cy="412552"/>
          </a:xfrm>
          <a:prstGeom prst="roundRect">
            <a:avLst>
              <a:gd name="adj" fmla="val 615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33370" y="4451449"/>
            <a:ext cx="9677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1995 - 2021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1015901" cy="3810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457051"/>
            <a:ext cx="264079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8127950" cy="1646039"/>
          </a:xfrm>
          <a:prstGeom prst="roundRect">
            <a:avLst>
              <a:gd name="adj" fmla="val 6172"/>
            </a:avLst>
          </a:prstGeom>
          <a:solidFill>
            <a:srgbClr val="4ECDC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143000"/>
            <a:ext cx="0" cy="164603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476" y="1396901"/>
            <a:ext cx="7723974" cy="113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2015, fifteen years after a global cataclysm known as Second Impact, teenager Shinji Ikari is summoned to Tokyo-3 by his father Gendo, commander of NERV. He must pilot a giant bio-mechanical mecha called Evangelion to fight mysterious beings known as Angels that threaten humanity's existence.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042940"/>
            <a:ext cx="2540050" cy="996851"/>
          </a:xfrm>
          <a:prstGeom prst="roundRect">
            <a:avLst>
              <a:gd name="adj" fmla="val 7644"/>
            </a:avLst>
          </a:prstGeom>
          <a:solidFill>
            <a:srgbClr val="FF6B6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3061990"/>
            <a:ext cx="25400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3271540"/>
            <a:ext cx="2202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8450" y="3544491"/>
            <a:ext cx="2202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Tokyo-3, a fortified city built to defend against Angel attacks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1901" y="3042940"/>
            <a:ext cx="2540050" cy="996851"/>
          </a:xfrm>
          <a:prstGeom prst="roundRect">
            <a:avLst>
              <a:gd name="adj" fmla="val 7644"/>
            </a:avLst>
          </a:prstGeom>
          <a:solidFill>
            <a:srgbClr val="FF6B6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01901" y="3061990"/>
            <a:ext cx="25400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2401" y="3271540"/>
            <a:ext cx="2202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92401" y="3544491"/>
            <a:ext cx="2202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 - Special agency operating the Evangelion units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51" y="3042940"/>
            <a:ext cx="2540050" cy="996851"/>
          </a:xfrm>
          <a:prstGeom prst="roundRect">
            <a:avLst>
              <a:gd name="adj" fmla="val 7644"/>
            </a:avLst>
          </a:prstGeom>
          <a:solidFill>
            <a:srgbClr val="FF6B6B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5851" y="3061990"/>
            <a:ext cx="2540050" cy="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6351" y="3271540"/>
            <a:ext cx="22022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86351" y="3544491"/>
            <a:ext cx="2202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Angels - Mysterious entities seeking to cause Third Impact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04099" y="4381500"/>
            <a:ext cx="2539901" cy="762000"/>
          </a:xfrm>
          <a:prstGeom prst="rect">
            <a:avLst/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009037" y="4683323"/>
            <a:ext cx="881063" cy="269677"/>
          </a:xfrm>
          <a:prstGeom prst="roundRect">
            <a:avLst>
              <a:gd name="adj" fmla="val 941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1437" y="4746724"/>
            <a:ext cx="587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 HQ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26201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Characters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26201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 Pilots - Children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2349401" cy="1813173"/>
          </a:xfrm>
          <a:prstGeom prst="roundRect">
            <a:avLst>
              <a:gd name="adj" fmla="val 560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2868811"/>
            <a:ext cx="2349401" cy="0"/>
          </a:xfrm>
          <a:prstGeom prst="line">
            <a:avLst/>
          </a:prstGeom>
          <a:noFill/>
          <a:ln w="47625">
            <a:solidFill>
              <a:srgbClr val="5C7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1269950"/>
            <a:ext cx="2007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Shinji Ikari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1542901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Child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450" y="1812727"/>
            <a:ext cx="588466" cy="234851"/>
          </a:xfrm>
          <a:prstGeom prst="roundRect">
            <a:avLst>
              <a:gd name="adj" fmla="val 16223"/>
            </a:avLst>
          </a:prstGeom>
          <a:solidFill>
            <a:srgbClr val="4ECDC4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9951" y="1863477"/>
            <a:ext cx="393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8450" y="2174528"/>
            <a:ext cx="20077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reluctant protagonist, struggles with self-worth and his relationship with his father Gendo.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7851" y="1079450"/>
            <a:ext cx="2349401" cy="1813173"/>
          </a:xfrm>
          <a:prstGeom prst="roundRect">
            <a:avLst>
              <a:gd name="adj" fmla="val 560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047851" y="2868811"/>
            <a:ext cx="2349401" cy="0"/>
          </a:xfrm>
          <a:prstGeom prst="line">
            <a:avLst/>
          </a:prstGeom>
          <a:noFill/>
          <a:ln w="47625">
            <a:solidFill>
              <a:srgbClr val="74C0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8351" y="1269950"/>
            <a:ext cx="2007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Ayanami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38351" y="1542901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Child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38351" y="1812727"/>
            <a:ext cx="588466" cy="234851"/>
          </a:xfrm>
          <a:prstGeom prst="roundRect">
            <a:avLst>
              <a:gd name="adj" fmla="val 16223"/>
            </a:avLst>
          </a:prstGeom>
          <a:solidFill>
            <a:srgbClr val="4ECDC4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39852" y="1863477"/>
            <a:ext cx="393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8351" y="2174528"/>
            <a:ext cx="20077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Mysterious and emotionless pilot with a hidden connection to the Evangelion project.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87752" y="1079450"/>
            <a:ext cx="2349401" cy="1813173"/>
          </a:xfrm>
          <a:prstGeom prst="roundRect">
            <a:avLst>
              <a:gd name="adj" fmla="val 560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87752" y="2868811"/>
            <a:ext cx="2349401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8252" y="1269950"/>
            <a:ext cx="2007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Asuka Langley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78252" y="1542901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Child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78252" y="1812727"/>
            <a:ext cx="588466" cy="234851"/>
          </a:xfrm>
          <a:prstGeom prst="roundRect">
            <a:avLst>
              <a:gd name="adj" fmla="val 16223"/>
            </a:avLst>
          </a:prstGeom>
          <a:solidFill>
            <a:srgbClr val="4ECDC4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879753" y="1863477"/>
            <a:ext cx="393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78252" y="2174528"/>
            <a:ext cx="20077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Proud and competitive German-Japanese pilot hiding deep emotional trauma.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27653" y="1079450"/>
            <a:ext cx="2349401" cy="1813173"/>
          </a:xfrm>
          <a:prstGeom prst="roundRect">
            <a:avLst>
              <a:gd name="adj" fmla="val 5603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127653" y="2868811"/>
            <a:ext cx="2349401" cy="0"/>
          </a:xfrm>
          <a:prstGeom prst="line">
            <a:avLst/>
          </a:prstGeom>
          <a:noFill/>
          <a:ln w="47625">
            <a:solidFill>
              <a:srgbClr val="DA77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8153" y="1269950"/>
            <a:ext cx="20077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Kaworu Nagisa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18153" y="1542901"/>
            <a:ext cx="20077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Fifth Child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18153" y="1812727"/>
            <a:ext cx="588466" cy="234851"/>
          </a:xfrm>
          <a:prstGeom prst="roundRect">
            <a:avLst>
              <a:gd name="adj" fmla="val 16223"/>
            </a:avLst>
          </a:prstGeom>
          <a:solidFill>
            <a:srgbClr val="4ECDC4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419654" y="1863477"/>
            <a:ext cx="393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18153" y="2174528"/>
            <a:ext cx="200776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Enigmatic pilot who forms a deep bond with Shinji. His true nature is shocking.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950" y="4594324"/>
            <a:ext cx="1657945" cy="295275"/>
          </a:xfrm>
          <a:prstGeom prst="roundRect">
            <a:avLst>
              <a:gd name="adj" fmla="val 12903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8450" y="4670524"/>
            <a:ext cx="13024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950" cy="1269950"/>
          </a:xfrm>
          <a:prstGeom prst="rect">
            <a:avLst/>
          </a:prstGeom>
          <a:solidFill>
            <a:srgbClr val="4A1C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273187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Evangelion Units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27318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Bio-mechanical Giants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269950"/>
            <a:ext cx="2539901" cy="2057698"/>
          </a:xfrm>
          <a:prstGeom prst="roundRect">
            <a:avLst>
              <a:gd name="adj" fmla="val 370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69950"/>
            <a:ext cx="2539901" cy="542925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1422350"/>
            <a:ext cx="22798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EVA-01 Test 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0350" y="1965275"/>
            <a:ext cx="226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68153" y="1965275"/>
            <a:ext cx="5378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Shinji Ikari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2200126"/>
            <a:ext cx="278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52055" y="2200126"/>
            <a:ext cx="7582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 / Green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0350" y="2434977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88853" y="2434977"/>
            <a:ext cx="4147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Yui Ikari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350" y="2695277"/>
            <a:ext cx="227980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iconic purple unit, capable of going berserk. Contains the soul of Shinji's mother.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01752" y="1269950"/>
            <a:ext cx="2539901" cy="2057698"/>
          </a:xfrm>
          <a:prstGeom prst="roundRect">
            <a:avLst>
              <a:gd name="adj" fmla="val 370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01752" y="1269950"/>
            <a:ext cx="2539901" cy="542925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54152" y="1422350"/>
            <a:ext cx="22798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EVA-00 Prototype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54152" y="1965275"/>
            <a:ext cx="226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49589" y="1965275"/>
            <a:ext cx="6524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 Ayanami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54152" y="2200126"/>
            <a:ext cx="278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3956" y="2200126"/>
            <a:ext cx="7194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/ Blue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54152" y="2434977"/>
            <a:ext cx="3306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8205" y="2434977"/>
            <a:ext cx="531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54152" y="2695277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successful Evangelion. Often unstable but piloted faithfully by Rei.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95554" y="1269950"/>
            <a:ext cx="2539901" cy="2057698"/>
          </a:xfrm>
          <a:prstGeom prst="roundRect">
            <a:avLst>
              <a:gd name="adj" fmla="val 370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5554" y="1269950"/>
            <a:ext cx="2539901" cy="542925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47954" y="1422350"/>
            <a:ext cx="227980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EVA-02 Production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47954" y="1965275"/>
            <a:ext cx="2267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3109" y="1965275"/>
            <a:ext cx="7649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Asuka Langley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7954" y="2200126"/>
            <a:ext cx="2787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3355" y="2200126"/>
            <a:ext cx="213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47954" y="2434977"/>
            <a:ext cx="23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95158" y="2434977"/>
            <a:ext cx="803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Kyoko Zeppelin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47954" y="2695277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000"/>
              </a:spcBef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production model EVA. Features four eyes and aggressive combat style.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0" y="4635550"/>
            <a:ext cx="9144000" cy="507950"/>
          </a:xfrm>
          <a:prstGeom prst="rect">
            <a:avLst/>
          </a:prstGeom>
          <a:solidFill>
            <a:srgbClr val="1B26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7950" y="4756398"/>
            <a:ext cx="1871365" cy="260152"/>
          </a:xfrm>
          <a:prstGeom prst="roundRect">
            <a:avLst>
              <a:gd name="adj" fmla="val 9764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0350" y="4819799"/>
            <a:ext cx="15978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 SYSTEM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0"/>
            <a:ext cx="76200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762000" cy="381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457051"/>
            <a:ext cx="213346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Themes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3905399" cy="1253579"/>
          </a:xfrm>
          <a:prstGeom prst="roundRect">
            <a:avLst>
              <a:gd name="adj" fmla="val 6079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079450"/>
            <a:ext cx="0" cy="1253579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269950"/>
            <a:ext cx="3556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Self-Worth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550" y="1571476"/>
            <a:ext cx="3556025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Characters struggle with who they are and their value as individuals, especially Shinji who constantly questions his purpose.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03849" y="1079450"/>
            <a:ext cx="3905399" cy="1253579"/>
          </a:xfrm>
          <a:prstGeom prst="roundRect">
            <a:avLst>
              <a:gd name="adj" fmla="val 6079"/>
            </a:avLst>
          </a:prstGeom>
          <a:solidFill>
            <a:srgbClr val="FF6B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22899" y="1079450"/>
            <a:ext cx="0" cy="1253579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2449" y="1269950"/>
            <a:ext cx="3556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Connection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2449" y="1571476"/>
            <a:ext cx="3556025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Hedgehog's Dilemma - people hurt each other when they get close, yet isolation brings its own pain.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523530"/>
            <a:ext cx="3905399" cy="1063228"/>
          </a:xfrm>
          <a:prstGeom prst="roundRect">
            <a:avLst>
              <a:gd name="adj" fmla="val 7167"/>
            </a:avLst>
          </a:prstGeom>
          <a:solidFill>
            <a:srgbClr val="FF6B6B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523530"/>
            <a:ext cx="0" cy="1063228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550" y="2714030"/>
            <a:ext cx="3556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Parent-Child Relationships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550" y="3015555"/>
            <a:ext cx="3556025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Gendo and Shinji's broken relationship mirrors the series' exploration of abandonment and emotional distance.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3849" y="2523530"/>
            <a:ext cx="3905399" cy="1063228"/>
          </a:xfrm>
          <a:prstGeom prst="roundRect">
            <a:avLst>
              <a:gd name="adj" fmla="val 7167"/>
            </a:avLst>
          </a:prstGeom>
          <a:solidFill>
            <a:srgbClr val="4ECDC4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22899" y="2523530"/>
            <a:ext cx="0" cy="106322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2449" y="2714030"/>
            <a:ext cx="3556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 and Trauma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32449" y="3015555"/>
            <a:ext cx="3556025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depression, anxiety, and trauma through symbolic imagery and character introspection.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950" y="3838724"/>
            <a:ext cx="8001149" cy="796826"/>
          </a:xfrm>
          <a:prstGeom prst="roundRect">
            <a:avLst>
              <a:gd name="adj" fmla="val 9563"/>
            </a:avLst>
          </a:prstGeom>
          <a:solidFill>
            <a:srgbClr val="5A3C78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1851" y="4029224"/>
            <a:ext cx="76432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"Anywhere can be paradise as long as you have the will to live."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1851" y="4302175"/>
            <a:ext cx="7643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Yui Ikari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24645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2464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TV Series to Rebuild Films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50" y="1206401"/>
            <a:ext cx="1503759" cy="1098649"/>
          </a:xfrm>
          <a:prstGeom prst="roundRect">
            <a:avLst>
              <a:gd name="adj" fmla="val 69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06401"/>
            <a:ext cx="1503759" cy="374452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6444" y="1307902"/>
            <a:ext cx="1326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1707803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Series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4901" y="1914079"/>
            <a:ext cx="127485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26-episode anime broadcast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64110" y="1206401"/>
            <a:ext cx="1503759" cy="1098649"/>
          </a:xfrm>
          <a:prstGeom prst="roundRect">
            <a:avLst>
              <a:gd name="adj" fmla="val 69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64110" y="1206401"/>
            <a:ext cx="1503759" cy="374452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52603" y="1307902"/>
            <a:ext cx="1326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91060" y="1707803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Eva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91060" y="1914079"/>
            <a:ext cx="1274856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Theatrical conclusion to TV series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20269" y="1206401"/>
            <a:ext cx="1503759" cy="1098649"/>
          </a:xfrm>
          <a:prstGeom prst="roundRect">
            <a:avLst>
              <a:gd name="adj" fmla="val 69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820269" y="1206401"/>
            <a:ext cx="1503759" cy="374452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08762" y="1307902"/>
            <a:ext cx="1326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47220" y="1707803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1.0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47220" y="1914079"/>
            <a:ext cx="12748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(Not) Alone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76429" y="1206401"/>
            <a:ext cx="1503759" cy="1098649"/>
          </a:xfrm>
          <a:prstGeom prst="roundRect">
            <a:avLst>
              <a:gd name="adj" fmla="val 69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76429" y="1206401"/>
            <a:ext cx="1503759" cy="374452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64922" y="1307902"/>
            <a:ext cx="1326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03379" y="1707803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2.0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03379" y="1914079"/>
            <a:ext cx="12748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(Not) Advance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588" y="1206401"/>
            <a:ext cx="1503759" cy="1098649"/>
          </a:xfrm>
          <a:prstGeom prst="roundRect">
            <a:avLst>
              <a:gd name="adj" fmla="val 6936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32588" y="1206401"/>
            <a:ext cx="1503759" cy="374452"/>
          </a:xfrm>
          <a:prstGeom prst="rect">
            <a:avLst/>
          </a:prstGeom>
          <a:solidFill>
            <a:srgbClr val="5C3D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21081" y="1307902"/>
            <a:ext cx="1326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59538" y="1707803"/>
            <a:ext cx="1274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3.0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59538" y="1914079"/>
            <a:ext cx="127485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(Not) Redo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7950" y="3876973"/>
            <a:ext cx="1515963" cy="374452"/>
          </a:xfrm>
          <a:prstGeom prst="roundRect">
            <a:avLst>
              <a:gd name="adj" fmla="val 13566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8450" y="3978473"/>
            <a:ext cx="11576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2021 - Final Film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950" y="4251424"/>
            <a:ext cx="8128099" cy="447675"/>
          </a:xfrm>
          <a:prstGeom prst="rect">
            <a:avLst/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0350" y="4403824"/>
            <a:ext cx="79797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Evangelion 3.0+1.0 Thrice Upon a Time - The epic conclusion to the Rebuild series, bringing closure to 26 years of Evangelion.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99099" y="2603599"/>
            <a:ext cx="4444901" cy="2539901"/>
          </a:xfrm>
          <a:prstGeom prst="rect">
            <a:avLst/>
          </a:prstGeom>
          <a:solidFill>
            <a:srgbClr val="4A1C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88950" cy="381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457051"/>
            <a:ext cx="24511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Impact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2540050" cy="2009180"/>
          </a:xfrm>
          <a:prstGeom prst="roundRect">
            <a:avLst>
              <a:gd name="adj" fmla="val 5057"/>
            </a:avLst>
          </a:prstGeom>
          <a:solidFill>
            <a:srgbClr val="4ECDC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03263"/>
            <a:ext cx="2540050" cy="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355675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0885" y="1458813"/>
            <a:ext cx="1382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6550" y="1952476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 Revolution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6550" y="2288977"/>
            <a:ext cx="212450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Redefined what anime could achieve artistically and thematically, inspiring countless creators.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01901" y="1079450"/>
            <a:ext cx="2540050" cy="2009180"/>
          </a:xfrm>
          <a:prstGeom prst="roundRect">
            <a:avLst>
              <a:gd name="adj" fmla="val 5057"/>
            </a:avLst>
          </a:prstGeom>
          <a:solidFill>
            <a:srgbClr val="FF6B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1901" y="1103263"/>
            <a:ext cx="2540050" cy="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0501" y="1355675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84836" y="1458813"/>
            <a:ext cx="1382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0501" y="1952476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Psychological Depth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30501" y="2288977"/>
            <a:ext cx="212450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Pioneered complex psychological narratives in anime, exploring mental health openly.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5851" y="1079450"/>
            <a:ext cx="2540050" cy="2009180"/>
          </a:xfrm>
          <a:prstGeom prst="roundRect">
            <a:avLst>
              <a:gd name="adj" fmla="val 5057"/>
            </a:avLst>
          </a:prstGeom>
          <a:solidFill>
            <a:srgbClr val="4ECDC4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95851" y="1103263"/>
            <a:ext cx="2540050" cy="0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451" y="1355675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61968" y="1458813"/>
            <a:ext cx="17275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4451" y="1952476"/>
            <a:ext cx="21245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 Genre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24451" y="2288977"/>
            <a:ext cx="2124507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Deconstructed and reinvented the mecha genre, adding deep character focus.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3247" y="4175224"/>
            <a:ext cx="479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03247" y="4565749"/>
            <a:ext cx="479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52324" y="4175224"/>
            <a:ext cx="70619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52324" y="4565749"/>
            <a:ext cx="706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Films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4440" y="4175224"/>
            <a:ext cx="8318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424440" y="4565749"/>
            <a:ext cx="83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Legacy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444901" cy="2539901"/>
          </a:xfrm>
          <a:prstGeom prst="rect">
            <a:avLst/>
          </a:prstGeom>
          <a:solidFill>
            <a:srgbClr val="4A1C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99099" y="2603599"/>
            <a:ext cx="4444901" cy="2539901"/>
          </a:xfrm>
          <a:prstGeom prst="rect">
            <a:avLst/>
          </a:prstGeom>
          <a:solidFill>
            <a:srgbClr val="4A1C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17390" y="1092845"/>
            <a:ext cx="4709071" cy="1126927"/>
          </a:xfrm>
          <a:prstGeom prst="roundRect">
            <a:avLst>
              <a:gd name="adj" fmla="val 4508"/>
            </a:avLst>
          </a:prstGeom>
          <a:solidFill>
            <a:srgbClr val="FF6B6B">
              <a:alpha val="90000"/>
            </a:srgbClr>
          </a:solidFill>
          <a:ln/>
          <a:effectLst>
            <a:outerShdw sx="100000" sy="100000" kx="0" ky="0" algn="bl" rotWithShape="0" blurRad="190500" dist="53882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6518" y="1346746"/>
            <a:ext cx="273081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9897" y="2537222"/>
            <a:ext cx="3644205" cy="542925"/>
          </a:xfrm>
          <a:prstGeom prst="roundRect">
            <a:avLst>
              <a:gd name="adj" fmla="val 9357"/>
            </a:avLst>
          </a:prstGeom>
          <a:solidFill>
            <a:srgbClr val="4ECDC4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66744" y="2689622"/>
            <a:ext cx="28105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0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Watching EVA 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23133" y="3461147"/>
            <a:ext cx="3897585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fate of destruction is also the joy of rebirth."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23133" y="3898106"/>
            <a:ext cx="3897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1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Genesis Evangelion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4318248"/>
            <a:ext cx="4572000" cy="507802"/>
          </a:xfrm>
          <a:prstGeom prst="roundRect">
            <a:avLst>
              <a:gd name="adj" fmla="val 5002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12975" y="4429274"/>
            <a:ext cx="39964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GOD'S IN HIS HEAVEN. ALL'S RIGHT WITH THE WORLD.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 Genesis Evangelion - Introduction</dc:title>
  <dc:subject>EVA Anime Introduction</dc:subject>
  <dc:creator>Claude Code</dc:creator>
  <cp:lastModifiedBy>Claude Code</cp:lastModifiedBy>
  <cp:revision>1</cp:revision>
  <dcterms:created xsi:type="dcterms:W3CDTF">2026-01-10T17:10:21Z</dcterms:created>
  <dcterms:modified xsi:type="dcterms:W3CDTF">2026-01-10T17:10:21Z</dcterms:modified>
</cp:coreProperties>
</file>